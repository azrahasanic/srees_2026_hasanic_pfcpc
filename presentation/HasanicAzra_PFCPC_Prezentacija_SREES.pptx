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ublic Sans Bold" charset="1" panose="00000000000000000000"/>
      <p:regular r:id="rId17"/>
    </p:embeddedFont>
    <p:embeddedFont>
      <p:font typeface="Playfair Display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Playfair Display Bold" charset="1" panose="00000800000000000000"/>
      <p:regular r:id="rId20"/>
    </p:embeddedFont>
    <p:embeddedFont>
      <p:font typeface="Public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18" y="4611719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4731190"/>
            <a:ext cx="16760399" cy="130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SEMINARSKI RAD</a:t>
            </a:r>
          </a:p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STRUKTURE I REŽIMI RADA ELEKTROENERGETSKIH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059830"/>
            <a:ext cx="17055961" cy="238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9999" spc="4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Konvertor tokova snaga: polarne koordinate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6" y="714923"/>
            <a:ext cx="8295562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Elektrotehnički  fakultet Univerziteta u Sarajevu 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Odsjek za automatiku i elektroniku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07359" y="9639035"/>
            <a:ext cx="8295562" cy="3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Sarajevo, jul 2026.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438" y="6189416"/>
            <a:ext cx="8295562" cy="44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"/>
              </a:lnSpc>
            </a:pPr>
            <a:r>
              <a:rPr lang="en-US" sz="213">
                <a:solidFill>
                  <a:srgbClr val="2B2C30"/>
                </a:solidFill>
                <a:latin typeface="Arimo"/>
                <a:ea typeface="Arimo"/>
                <a:cs typeface="Arimo"/>
                <a:sym typeface="Arimo"/>
              </a:rPr>
              <a:t>Azra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Azra Hasanić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71550"/>
            <a:ext cx="9509685" cy="97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Sadržaj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01058"/>
            <a:ext cx="14571542" cy="586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Uvod</a:t>
            </a:r>
          </a:p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Proračun tokova snaga</a:t>
            </a:r>
          </a:p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Korišteni softverski alati</a:t>
            </a:r>
          </a:p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Implementacija programskog koda</a:t>
            </a:r>
          </a:p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Rezultati i testiranje programa</a:t>
            </a:r>
          </a:p>
          <a:p>
            <a:pPr algn="l" marL="1284684" indent="-642342" lvl="1">
              <a:lnSpc>
                <a:spcPts val="7735"/>
              </a:lnSpc>
              <a:buAutoNum type="arabicPeriod" startAt="1"/>
            </a:pPr>
            <a:r>
              <a:rPr lang="en-US" sz="5950" spc="2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Zaključak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UVOD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746" y="1775457"/>
            <a:ext cx="16388851" cy="12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Proračun tokova snaga - omogućava odredbu statičkog stanja mreže, to jeste proračun napona svih čvorova, faznih uglova napona, te tokova aktivnih i reaktivnih snaga kroz elemente mreže.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54500" y="9366964"/>
            <a:ext cx="609600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3/11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746" y="3671779"/>
            <a:ext cx="15461702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dTwin platforma zahtijeva deklarativne modele .dmodl, dok su mrežni podaci najčešće dostupni u MATPOWER .m formatu.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Rješenje: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dTwin plugin koji vrši sintaksnu i strukturnu transformaciju podataka direktno mapirajući mrežu kroz polarne koordinate.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873371" y="7567377"/>
            <a:ext cx="9570452" cy="1445111"/>
          </a:xfrm>
          <a:custGeom>
            <a:avLst/>
            <a:gdLst/>
            <a:ahLst/>
            <a:cxnLst/>
            <a:rect r="r" b="b" t="t" l="l"/>
            <a:pathLst>
              <a:path h="1445111" w="9570452">
                <a:moveTo>
                  <a:pt x="0" y="0"/>
                </a:moveTo>
                <a:lnTo>
                  <a:pt x="9570452" y="0"/>
                </a:lnTo>
                <a:lnTo>
                  <a:pt x="9570452" y="1445111"/>
                </a:lnTo>
                <a:lnTo>
                  <a:pt x="0" y="144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7826267" cy="3921406"/>
          </a:xfrm>
          <a:custGeom>
            <a:avLst/>
            <a:gdLst/>
            <a:ahLst/>
            <a:cxnLst/>
            <a:rect r="r" b="b" t="t" l="l"/>
            <a:pathLst>
              <a:path h="3921406" w="7826267">
                <a:moveTo>
                  <a:pt x="0" y="0"/>
                </a:moveTo>
                <a:lnTo>
                  <a:pt x="7826267" y="0"/>
                </a:lnTo>
                <a:lnTo>
                  <a:pt x="7826267" y="3921406"/>
                </a:lnTo>
                <a:lnTo>
                  <a:pt x="0" y="3921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PRORAČUN TOKOVA SNAGA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7960" y="2087942"/>
            <a:ext cx="9754969" cy="258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Jac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bij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at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ric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Izrač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una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ek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ija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ih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eri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p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modu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(V)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i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ug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(δ)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l" marL="604519" indent="-302260" lvl="1">
              <a:lnSpc>
                <a:spcPts val="5235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Y-bus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 p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ću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dm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 g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i 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orma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rs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ki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nosn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dn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4738" y="9366964"/>
            <a:ext cx="609124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4/11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2340" y="2390480"/>
            <a:ext cx="7326655" cy="600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8147" indent="-309073" lvl="1">
              <a:lnSpc>
                <a:spcPts val="5354"/>
              </a:lnSpc>
              <a:spcBef>
                <a:spcPct val="0"/>
              </a:spcBef>
              <a:buFont typeface="Arial"/>
              <a:buChar char="•"/>
            </a:pPr>
            <a:r>
              <a:rPr lang="en-US" sz="286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b="true" sz="286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Slack </a:t>
            </a:r>
            <a:r>
              <a:rPr lang="en-US" sz="286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(balansni) čvor: referentni čv</a:t>
            </a:r>
            <a:r>
              <a:rPr lang="en-US" sz="286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 kojem su zadani magnituda napona V i fazni ugao δ (obično δ = 0◦). </a:t>
            </a:r>
          </a:p>
          <a:p>
            <a:pPr algn="l" marL="618147" indent="-309073" lvl="1">
              <a:lnSpc>
                <a:spcPts val="53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PV</a:t>
            </a:r>
            <a:r>
              <a:rPr lang="en-US" sz="286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(generatorski) čvorovi: čvorovi u kojima su poznati aktivna snaga injektiranja P i magnituda napona V . </a:t>
            </a:r>
          </a:p>
          <a:p>
            <a:pPr algn="l" marL="618147" indent="-309073" lvl="1">
              <a:lnSpc>
                <a:spcPts val="53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6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PQ</a:t>
            </a:r>
            <a:r>
              <a:rPr lang="en-US" sz="2863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(potrošački) čvorovi: čvorovi u kojima su poznati aktivna i reaktivna snaga injektiranja P i Q).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69044" y="2786073"/>
            <a:ext cx="5619846" cy="5419931"/>
          </a:xfrm>
          <a:custGeom>
            <a:avLst/>
            <a:gdLst/>
            <a:ahLst/>
            <a:cxnLst/>
            <a:rect r="r" b="b" t="t" l="l"/>
            <a:pathLst>
              <a:path h="5419931" w="5619846">
                <a:moveTo>
                  <a:pt x="0" y="0"/>
                </a:moveTo>
                <a:lnTo>
                  <a:pt x="5619846" y="0"/>
                </a:lnTo>
                <a:lnTo>
                  <a:pt x="5619846" y="5419930"/>
                </a:lnTo>
                <a:lnTo>
                  <a:pt x="0" y="5419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96687" y="2786073"/>
            <a:ext cx="7380699" cy="5167208"/>
          </a:xfrm>
          <a:custGeom>
            <a:avLst/>
            <a:gdLst/>
            <a:ahLst/>
            <a:cxnLst/>
            <a:rect r="r" b="b" t="t" l="l"/>
            <a:pathLst>
              <a:path h="5167208" w="7380699">
                <a:moveTo>
                  <a:pt x="0" y="0"/>
                </a:moveTo>
                <a:lnTo>
                  <a:pt x="7380699" y="0"/>
                </a:lnTo>
                <a:lnTo>
                  <a:pt x="7380699" y="5167208"/>
                </a:lnTo>
                <a:lnTo>
                  <a:pt x="0" y="516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9044" y="8682240"/>
            <a:ext cx="6631719" cy="12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natID</a:t>
            </a:r>
          </a:p>
          <a:p>
            <a:pPr algn="l" marL="604519" indent="-302260" lvl="1">
              <a:lnSpc>
                <a:spcPts val="5235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Visual Studio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5024" y="8201088"/>
            <a:ext cx="6631719" cy="19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mpc.bus, </a:t>
            </a: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mpc.gen, 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mpc.branch</a:t>
            </a:r>
          </a:p>
        </p:txBody>
      </p:sp>
      <p:sp>
        <p:nvSpPr>
          <p:cNvPr name="AutoShape 7" id="7"/>
          <p:cNvSpPr/>
          <p:nvPr/>
        </p:nvSpPr>
        <p:spPr>
          <a:xfrm>
            <a:off x="8124393" y="9248775"/>
            <a:ext cx="2938323" cy="19050"/>
          </a:xfrm>
          <a:prstGeom prst="line">
            <a:avLst/>
          </a:prstGeom>
          <a:ln cap="flat" w="38100">
            <a:solidFill>
              <a:srgbClr val="2B2C3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382186" y="3504468"/>
            <a:ext cx="3665947" cy="2910651"/>
          </a:xfrm>
          <a:custGeom>
            <a:avLst/>
            <a:gdLst/>
            <a:ahLst/>
            <a:cxnLst/>
            <a:rect r="r" b="b" t="t" l="l"/>
            <a:pathLst>
              <a:path h="2910651" w="3665947">
                <a:moveTo>
                  <a:pt x="0" y="0"/>
                </a:moveTo>
                <a:lnTo>
                  <a:pt x="3665947" y="0"/>
                </a:lnTo>
                <a:lnTo>
                  <a:pt x="3665947" y="2910652"/>
                </a:lnTo>
                <a:lnTo>
                  <a:pt x="0" y="2910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KORIŠTENI SOFTWARE-SKI ALATI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52674" y="9366964"/>
            <a:ext cx="613251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5/11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93743" y="1934936"/>
            <a:ext cx="1422028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CMake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56281" y="8210613"/>
            <a:ext cx="6631719" cy="19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Variables,</a:t>
            </a:r>
          </a:p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Init,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Equations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20883" y="1934936"/>
            <a:ext cx="2225907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MATPOWER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02205" y="2386086"/>
            <a:ext cx="2225907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dTwin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386775" y="7764380"/>
            <a:ext cx="10633193" cy="1493920"/>
          </a:xfrm>
          <a:custGeom>
            <a:avLst/>
            <a:gdLst/>
            <a:ahLst/>
            <a:cxnLst/>
            <a:rect r="r" b="b" t="t" l="l"/>
            <a:pathLst>
              <a:path h="1493920" w="10633193">
                <a:moveTo>
                  <a:pt x="0" y="0"/>
                </a:moveTo>
                <a:lnTo>
                  <a:pt x="10633194" y="0"/>
                </a:lnTo>
                <a:lnTo>
                  <a:pt x="10633194" y="1493920"/>
                </a:lnTo>
                <a:lnTo>
                  <a:pt x="0" y="149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IMPLEMENTACIJA PROGRAMSKOG KODA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55770" y="9366964"/>
            <a:ext cx="607060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6/11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9660" y="2114613"/>
            <a:ext cx="15450309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Parsiranje (.m)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Liniju po liniju (Stream-based), uz automatsko filtriranje komentara ( %) unutar blokova.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Asinhroni rad (Threads):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Računski proces izmješten je u radnu nit (std::thread) kako bi se spriječile smetnje rada dTwin interface-a.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Optimizacija (Sparse matrice):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Korištenje natID::SparseMatrix modula za alokaciju isključivo nenultih elemenata Y-matrice, čime se štedi memorija.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Integracija i GUI: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Prozor nasljeđuje nat::UI::Dialog, koristi nat::IO::Path za validaciju putanja i nat::TaskProgress za prikaz progresa u statusnoj traci.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86775" y="9229725"/>
            <a:ext cx="9863843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Primjer kreiranja i popunjavanja sparse matrice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9575" y="2923805"/>
            <a:ext cx="4039952" cy="6028464"/>
          </a:xfrm>
          <a:custGeom>
            <a:avLst/>
            <a:gdLst/>
            <a:ahLst/>
            <a:cxnLst/>
            <a:rect r="r" b="b" t="t" l="l"/>
            <a:pathLst>
              <a:path h="6028464" w="4039952">
                <a:moveTo>
                  <a:pt x="0" y="0"/>
                </a:moveTo>
                <a:lnTo>
                  <a:pt x="4039951" y="0"/>
                </a:lnTo>
                <a:lnTo>
                  <a:pt x="4039951" y="6028464"/>
                </a:lnTo>
                <a:lnTo>
                  <a:pt x="0" y="602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56118" y="4046954"/>
            <a:ext cx="11403553" cy="2546292"/>
          </a:xfrm>
          <a:custGeom>
            <a:avLst/>
            <a:gdLst/>
            <a:ahLst/>
            <a:cxnLst/>
            <a:rect r="r" b="b" t="t" l="l"/>
            <a:pathLst>
              <a:path h="2546292" w="11403553">
                <a:moveTo>
                  <a:pt x="0" y="0"/>
                </a:moveTo>
                <a:lnTo>
                  <a:pt x="11403553" y="0"/>
                </a:lnTo>
                <a:lnTo>
                  <a:pt x="11403553" y="2546291"/>
                </a:lnTo>
                <a:lnTo>
                  <a:pt x="0" y="2546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IMPLEMENTACIJA PROGRAMSKOG KODA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9501" y="9366964"/>
            <a:ext cx="599599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7/11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575" y="1961907"/>
            <a:ext cx="16388851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Struktura direktorija i organizacija izvornog koda: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6118" y="6564670"/>
            <a:ext cx="16388851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CMake konfiguracija za kompatibilnost sa različitim 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44417" y="2644991"/>
            <a:ext cx="7810033" cy="5919079"/>
          </a:xfrm>
          <a:custGeom>
            <a:avLst/>
            <a:gdLst/>
            <a:ahLst/>
            <a:cxnLst/>
            <a:rect r="r" b="b" t="t" l="l"/>
            <a:pathLst>
              <a:path h="5919079" w="7810033">
                <a:moveTo>
                  <a:pt x="0" y="0"/>
                </a:moveTo>
                <a:lnTo>
                  <a:pt x="7810033" y="0"/>
                </a:lnTo>
                <a:lnTo>
                  <a:pt x="7810033" y="5919080"/>
                </a:lnTo>
                <a:lnTo>
                  <a:pt x="0" y="5919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22171" y="2644991"/>
            <a:ext cx="7972992" cy="5962237"/>
          </a:xfrm>
          <a:custGeom>
            <a:avLst/>
            <a:gdLst/>
            <a:ahLst/>
            <a:cxnLst/>
            <a:rect r="r" b="b" t="t" l="l"/>
            <a:pathLst>
              <a:path h="5962237" w="7972992">
                <a:moveTo>
                  <a:pt x="0" y="0"/>
                </a:moveTo>
                <a:lnTo>
                  <a:pt x="7972992" y="0"/>
                </a:lnTo>
                <a:lnTo>
                  <a:pt x="7972992" y="5962238"/>
                </a:lnTo>
                <a:lnTo>
                  <a:pt x="0" y="5962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REZULTATI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1484" y="9366964"/>
            <a:ext cx="615632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7963" y="2190854"/>
            <a:ext cx="10595280" cy="5410215"/>
          </a:xfrm>
          <a:custGeom>
            <a:avLst/>
            <a:gdLst/>
            <a:ahLst/>
            <a:cxnLst/>
            <a:rect r="r" b="b" t="t" l="l"/>
            <a:pathLst>
              <a:path h="5410215" w="10595280">
                <a:moveTo>
                  <a:pt x="0" y="0"/>
                </a:moveTo>
                <a:lnTo>
                  <a:pt x="10595280" y="0"/>
                </a:lnTo>
                <a:lnTo>
                  <a:pt x="10595280" y="5410215"/>
                </a:lnTo>
                <a:lnTo>
                  <a:pt x="0" y="5410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2086" y="8201144"/>
            <a:ext cx="14524554" cy="1261821"/>
          </a:xfrm>
          <a:custGeom>
            <a:avLst/>
            <a:gdLst/>
            <a:ahLst/>
            <a:cxnLst/>
            <a:rect r="r" b="b" t="t" l="l"/>
            <a:pathLst>
              <a:path h="1261821" w="14524554">
                <a:moveTo>
                  <a:pt x="0" y="0"/>
                </a:moveTo>
                <a:lnTo>
                  <a:pt x="14524554" y="0"/>
                </a:lnTo>
                <a:lnTo>
                  <a:pt x="14524554" y="1261821"/>
                </a:lnTo>
                <a:lnTo>
                  <a:pt x="0" y="126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REZULTATI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5452" y="9366964"/>
            <a:ext cx="607695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ZAKLJUČAK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88381" y="9366964"/>
            <a:ext cx="741839" cy="58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267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10/11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110" y="2713662"/>
            <a:ext cx="15450309" cy="437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77" indent="-345439" lvl="1">
              <a:lnSpc>
                <a:spcPts val="5983"/>
              </a:lnSpc>
              <a:buFont typeface="Arial"/>
              <a:buChar char="•"/>
            </a:pPr>
            <a:r>
              <a:rPr lang="en-US" sz="31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Uspješno implementiran softverski konvertor tokova snaga.</a:t>
            </a:r>
          </a:p>
          <a:p>
            <a:pPr algn="ctr" marL="690877" indent="-345439" lvl="1">
              <a:lnSpc>
                <a:spcPts val="5983"/>
              </a:lnSpc>
              <a:buFont typeface="Arial"/>
              <a:buChar char="•"/>
            </a:pPr>
            <a:r>
              <a:rPr lang="en-US" sz="31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Implementirana multithreaded arhitektura.</a:t>
            </a:r>
          </a:p>
          <a:p>
            <a:pPr algn="ctr" marL="690877" indent="-345439" lvl="1">
              <a:lnSpc>
                <a:spcPts val="5983"/>
              </a:lnSpc>
              <a:buFont typeface="Arial"/>
              <a:buChar char="•"/>
            </a:pPr>
            <a:r>
              <a:rPr lang="en-US" sz="31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Obezbijeđena cross-platform kompatibilnost kroz CMake.</a:t>
            </a:r>
          </a:p>
          <a:p>
            <a:pPr algn="ctr" marL="690877" indent="-345439" lvl="1">
              <a:lnSpc>
                <a:spcPts val="5983"/>
              </a:lnSpc>
              <a:buFont typeface="Arial"/>
              <a:buChar char="•"/>
            </a:pPr>
            <a:r>
              <a:rPr lang="en-US" sz="31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Generisani modeli omogućavaju dTwin okruženju stabilnu i brzu konvergenciju ka naponima čvorova.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4274" y="3312729"/>
            <a:ext cx="18122279" cy="198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31"/>
              </a:lnSpc>
              <a:spcBef>
                <a:spcPct val="0"/>
              </a:spcBef>
            </a:pPr>
            <a:r>
              <a:rPr lang="en-US" sz="15859" spc="79" strike="noStrike" u="non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HVALA NA PAŽNJI!</a:t>
            </a:r>
          </a:p>
        </p:txBody>
      </p:sp>
      <p:sp>
        <p:nvSpPr>
          <p:cNvPr name="AutoShape 3" id="3"/>
          <p:cNvSpPr/>
          <p:nvPr/>
        </p:nvSpPr>
        <p:spPr>
          <a:xfrm>
            <a:off x="593394" y="5512502"/>
            <a:ext cx="17075710" cy="0"/>
          </a:xfrm>
          <a:prstGeom prst="line">
            <a:avLst/>
          </a:prstGeom>
          <a:ln cap="flat" w="9525">
            <a:solidFill>
              <a:srgbClr val="49494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DAHOndrNYgM</dc:identifier>
  <dcterms:modified xsi:type="dcterms:W3CDTF">2011-08-01T06:04:30Z</dcterms:modified>
  <cp:revision>1</cp:revision>
  <dc:title>HasanicAzra_PFCPC_Prezentacija_SREES</dc:title>
</cp:coreProperties>
</file>